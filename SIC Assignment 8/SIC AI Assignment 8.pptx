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6004-B9E1-4170-718D-AF4ECFCE9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FE5208-6EE5-1DD5-2AC4-3D100184F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7C4F7-04A2-F03B-48F5-4444D1C82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54572-9BC7-7309-E24D-2C02A4D7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E206F-D55C-5AD3-6605-CBD47637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977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BDDB-1232-15B5-DE9F-1F5A79619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94C90-FBCB-DB6E-C7EA-9AF9ED259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B4175-5DC7-D723-C002-3A6159379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1A0CE-9FF4-D819-BF02-7C8DB0A5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7199B-808E-8BF1-E180-69068EBC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189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813B-073F-F688-45FE-CD7A432AF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2C792-9CBA-78DE-64EA-4ED823939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3FB0-AD1A-1C7B-31DB-4A9DE934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166AD-5B2B-C2C1-3D3F-66664B2D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14D4C-EF91-8CE8-CF2E-F8431A0B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58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33B5-DC51-D552-58F8-E3FA2F16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34672-68C4-32E8-79FA-56BCF8CF0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E0420-9041-8C7D-6F83-E936DEC01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49FAF-DF72-08A9-3535-18193D79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EDDD9-7A3C-490A-96CF-146D8264F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EDF80-435E-19D7-6599-59D81CB06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757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DADC-4344-2B14-60B2-D908CA7E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D6FC9-E6F8-A5A4-09FD-2ED5A8D30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A5488-1552-056D-AF17-A3DFE194C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E48C87-5097-607C-E6BD-1E584E8951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3ABE3-99EA-3E97-2064-453CEC64F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5B7784-C164-DA44-FDB3-62D5E465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0CA1D-2037-28DE-5068-84A56027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488869-79CB-8AE7-8F86-4DFA6D37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5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51A9-846A-C311-AD60-A5D09FF7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8C2D6-6BC6-3D03-23D2-4E944EC2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B08B8A-FDE1-9495-B362-F00EE7D77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A823F-D329-A31D-2A49-DAADBDD06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022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0A9F1-56B1-A215-15DB-6A73BECD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755C42-2C9B-EAAF-BA53-6496AFBC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BC904-D6AB-0740-2AA5-ABFE49E5C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215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072F-D733-FB4F-AD3F-B0A5210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CB7F-B1D5-1A4A-6E45-74E742FFC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B4DE6F-2336-FE67-3CF7-BBDC13AE5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155BA-2F96-948F-0435-E890D72F0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F9D0B-D4BF-35E7-EDF6-9BE3D610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B09A0-FAFD-BB5E-80B7-5CB83E562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73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0F55-7E27-60F6-4CB7-354239278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6B26F0-9749-995F-AA3E-281651797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B0DD2-E96E-2E11-B0C5-09C33F3BB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4A4B9-C241-15B8-3B28-42FBB5CF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3697C-406E-C7A5-E9ED-2B7404B64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91CD-BF94-AAB8-DF8A-F6FE87F0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96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626F7-F999-A48A-2426-73ACD65A4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7DA1B8-BB70-227E-0CF0-85B72518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FC952-F2A8-183D-F9F0-11E3CD580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4A2A-F0C3-A30B-1DAB-4D62E6119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EB029-A1DB-F2E5-7E9F-8B57D1059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72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370C5-5FB5-B79B-C3BF-C842A4665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10D84-A120-5111-0825-9CF8F2AC9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3FA64-AFAC-DCFE-1B23-C1270F8B9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6299-F4B8-360A-A399-33B1EECD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B4409-3685-36F5-6EF6-1B54CE7B9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652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FF475-83F3-8092-4D01-7108C8030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2BC2D-FAF1-84AB-CE6C-21CDE5846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443EC-39D2-8E2E-9480-661FE6D640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11AA9-1BAF-4178-B9CF-24A10F567E0B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9D4E1-C632-3351-63A6-36B353405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623E8-FFB7-382C-2FDB-317A1A8DD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9DC88-CBEC-4471-AE29-77FB96CEAE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2B5C-2BA8-56F7-5DC8-7EEF8699F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  <a:solidFill>
            <a:srgbClr val="FFFF00"/>
          </a:solidFill>
        </p:spPr>
        <p:txBody>
          <a:bodyPr/>
          <a:lstStyle/>
          <a:p>
            <a:r>
              <a:rPr lang="en-US" b="1" dirty="0">
                <a:latin typeface="+mn-lt"/>
              </a:rPr>
              <a:t>SIC Task 8</a:t>
            </a:r>
            <a:endParaRPr lang="en-IN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E60671-10BE-9852-EE0C-A4DC12542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3509963"/>
            <a:ext cx="12191999" cy="1747837"/>
          </a:xfrm>
          <a:solidFill>
            <a:srgbClr val="FFC000"/>
          </a:solidFill>
        </p:spPr>
        <p:txBody>
          <a:bodyPr>
            <a:normAutofit/>
          </a:bodyPr>
          <a:lstStyle/>
          <a:p>
            <a:r>
              <a:rPr lang="en-US" sz="4000" b="1" dirty="0"/>
              <a:t>Market Outlooks, Insights and Foresights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2034172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DCEB2-E3FD-1B4B-D605-120C3253C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Introduction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F6FED-406D-B245-2EF2-10B185A5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Market Outlook is an assessment of the current market situation and its expected direction. </a:t>
            </a:r>
          </a:p>
          <a:p>
            <a:pPr algn="just"/>
            <a:r>
              <a:rPr lang="en-US" b="1" dirty="0"/>
              <a:t>It examines the market performance, economic conditions and the industry trends. </a:t>
            </a:r>
          </a:p>
          <a:p>
            <a:pPr algn="just"/>
            <a:r>
              <a:rPr lang="en-US" b="1" dirty="0"/>
              <a:t>It helps the businesses to understand the potential growth or decline. </a:t>
            </a:r>
          </a:p>
          <a:p>
            <a:pPr algn="just"/>
            <a:r>
              <a:rPr lang="en-US" b="1" dirty="0"/>
              <a:t>It considers the opportunities, risks and  the future expectations. </a:t>
            </a:r>
          </a:p>
          <a:p>
            <a:pPr algn="just"/>
            <a:r>
              <a:rPr lang="en-US" b="1" dirty="0"/>
              <a:t>It is commonly used for the short term  and the medium term planning.   </a:t>
            </a:r>
          </a:p>
          <a:p>
            <a:pPr algn="just"/>
            <a:r>
              <a:rPr lang="en-US" b="1" dirty="0"/>
              <a:t>An electric vehicle market outlook may predict the increasing demand because of the improved battery technology and the government incentives. </a:t>
            </a:r>
          </a:p>
          <a:p>
            <a:pPr marL="0" indent="0" algn="just">
              <a:buNone/>
            </a:pPr>
            <a:r>
              <a:rPr lang="en-US" b="1" dirty="0"/>
              <a:t>  </a:t>
            </a:r>
          </a:p>
          <a:p>
            <a:pPr marL="0" indent="0" algn="just">
              <a:buNone/>
            </a:pPr>
            <a:endParaRPr lang="en-US" b="1" dirty="0"/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1979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34E05-220C-824C-3D9C-B64568E54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Market Outlook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254D-2745-539F-6402-492DDD88C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8"/>
            <a:ext cx="12192000" cy="5167312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just"/>
            <a:r>
              <a:rPr lang="en-US" b="1" dirty="0"/>
              <a:t>Economic Conditions:  Inflation,  interest rates, GDP and employment </a:t>
            </a:r>
          </a:p>
          <a:p>
            <a:pPr algn="just"/>
            <a:r>
              <a:rPr lang="en-US" b="1" dirty="0"/>
              <a:t>Market Trends: Changes in the customer demands and the purchasing patterns. </a:t>
            </a:r>
          </a:p>
          <a:p>
            <a:pPr algn="just"/>
            <a:r>
              <a:rPr lang="en-US" b="1" dirty="0"/>
              <a:t>Industry Performance: Growth, Competition and Profitability </a:t>
            </a:r>
          </a:p>
          <a:p>
            <a:pPr algn="just"/>
            <a:r>
              <a:rPr lang="en-US" b="1" dirty="0"/>
              <a:t>Consumer Behavior :  Preferences, spending habits and expectations. </a:t>
            </a:r>
          </a:p>
          <a:p>
            <a:pPr algn="just"/>
            <a:r>
              <a:rPr lang="en-US" b="1" dirty="0"/>
              <a:t>Risks and opportunities: Factors that may affect future performance. </a:t>
            </a:r>
          </a:p>
          <a:p>
            <a:pPr algn="just"/>
            <a:r>
              <a:rPr lang="en-US" b="1" dirty="0"/>
              <a:t>Growth Projections: Expected market size, sales or demand.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9149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467FF-D94E-29D2-329A-19CA0E94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Market Insights</a:t>
            </a:r>
            <a:endParaRPr lang="en-IN" b="1" dirty="0">
              <a:latin typeface="+mn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3201FE-0395-4289-CB68-BB7E35E1B4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2073744"/>
            <a:ext cx="11971176" cy="440120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 insights are meaningful conclusions obtained from market data and research.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explain why customers behave in certain ways.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help businesses understand customer needs and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identify gaps in products and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support marketing, sales, and business strategies.</a:t>
            </a:r>
          </a:p>
        </p:txBody>
      </p:sp>
    </p:spTree>
    <p:extLst>
      <p:ext uri="{BB962C8B-B14F-4D97-AF65-F5344CB8AC3E}">
        <p14:creationId xmlns:p14="http://schemas.microsoft.com/office/powerpoint/2010/main" val="151922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A9A31-B2D9-4A8E-CBF7-CFA905335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Foresights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DCCC-4AE4-3EA0-0292-E6C727C56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690688"/>
            <a:ext cx="12191999" cy="5167312"/>
          </a:xfrm>
          <a:solidFill>
            <a:schemeClr val="accent4">
              <a:lumMod val="60000"/>
              <a:lumOff val="40000"/>
            </a:schemeClr>
          </a:solidFill>
        </p:spPr>
        <p:txBody>
          <a:bodyPr/>
          <a:lstStyle/>
          <a:p>
            <a:pPr algn="just"/>
            <a:r>
              <a:rPr lang="en-US" b="1" dirty="0"/>
              <a:t>Market Foresight is the systematic exploration of possible future market developments. </a:t>
            </a:r>
          </a:p>
          <a:p>
            <a:pPr algn="just"/>
            <a:r>
              <a:rPr lang="en-US" b="1" dirty="0"/>
              <a:t>It identifies the emerging trends  and the potential disruptions. </a:t>
            </a:r>
          </a:p>
          <a:p>
            <a:pPr algn="just"/>
            <a:r>
              <a:rPr lang="en-US" b="1" dirty="0"/>
              <a:t>It uses the research, expert opinions and scenario planning. </a:t>
            </a:r>
          </a:p>
          <a:p>
            <a:pPr algn="just"/>
            <a:r>
              <a:rPr lang="en-US" b="1" dirty="0"/>
              <a:t>It helps the organizations prepare for the different possible futures. </a:t>
            </a:r>
          </a:p>
          <a:p>
            <a:pPr algn="just"/>
            <a:r>
              <a:rPr lang="en-US" b="1" dirty="0"/>
              <a:t>It supports the long term strategy  </a:t>
            </a:r>
            <a:r>
              <a:rPr lang="en-US" b="1"/>
              <a:t>and innovation.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64550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267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SIC Task 8</vt:lpstr>
      <vt:lpstr>Introduction</vt:lpstr>
      <vt:lpstr>Market Outlook</vt:lpstr>
      <vt:lpstr>Market Insights</vt:lpstr>
      <vt:lpstr>Foresights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Mangla</dc:creator>
  <cp:lastModifiedBy>Chaitanya Mangla</cp:lastModifiedBy>
  <cp:revision>7</cp:revision>
  <dcterms:created xsi:type="dcterms:W3CDTF">2026-10-21T16:36:50Z</dcterms:created>
  <dcterms:modified xsi:type="dcterms:W3CDTF">2026-10-21T17:51:25Z</dcterms:modified>
</cp:coreProperties>
</file>